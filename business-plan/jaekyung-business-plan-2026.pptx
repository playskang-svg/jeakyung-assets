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사진: Unsplash(인물 없음). 핵심 메시지 — HL홀딩스 전담 물류사, 식자재 유통물류 전담 파트너.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jeakyung.com/business-plan/" TargetMode="External"/><Relationship Id="rId1" Type="http://schemas.openxmlformats.org/officeDocument/2006/relationships/image" Target="../media/image-15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2B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50A2B">
              <a:alpha val="7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PLAN 2026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COLD-CHAIN 3PL &amp; FRESH LOGISTICS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 유통물류의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8EA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전담 파트너, 재경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HL홀딩스와 함께 삼성웰스토리 DC·현대그린푸드 TC를 운영하고, 쿠팡·컬리·B마트 등 온라인 유통과 바르닭·작심닭 B2B 출고까지 — 신선식품의 보관부터 배송까지 한 흐름으로 책임집니다.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754880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7548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전담 물류사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05456" y="4754880"/>
            <a:ext cx="1476756" cy="329184"/>
          </a:xfrm>
          <a:prstGeom prst="roundRect">
            <a:avLst>
              <a:gd name="adj" fmla="val 33333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05456" y="4754880"/>
            <a:ext cx="1476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 DC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91940" y="4754880"/>
            <a:ext cx="1847088" cy="329184"/>
          </a:xfrm>
          <a:prstGeom prst="roundRect">
            <a:avLst>
              <a:gd name="adj" fmla="val 33333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91940" y="47548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현대그린푸드 동탄 TC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48756" y="4754880"/>
            <a:ext cx="2093976" cy="329184"/>
          </a:xfrm>
          <a:prstGeom prst="roundRect">
            <a:avLst>
              <a:gd name="adj" fmla="val 33333"/>
            </a:avLst>
          </a:prstGeom>
          <a:solidFill>
            <a:srgbClr val="121A45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48756" y="475488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-20℃~+15℃ 콜드체인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760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5760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발행처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5760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754880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jeakyung.com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2B">
              <a:alpha val="7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보는 재경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운송에서 시작해 콜드체인 3PL까지. 현장에서 쌓은 인프라가 곧 경쟁력입니다.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 대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직영 차량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1톤 ~ 25톤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98064" y="246888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99232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 개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2999232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고객사·협력사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47488" y="246888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48656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 권역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5248656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3센터 +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호남·영남 식자재 센터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96912" y="246888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0E3A4A">
              <a:alpha val="90000"/>
            </a:srgbClr>
          </a:solidFill>
          <a:ln w="12700">
            <a:solidFill>
              <a:srgbClr val="5FE0D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-20~15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℃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콜드체인 온도대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모니터링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546336" y="246888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121A45">
              <a:alpha val="90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747504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</a:t>
            </a:r>
            <a:pPr indent="0" marL="0">
              <a:buNone/>
            </a:pPr>
            <a:r>
              <a:rPr lang="en-US" sz="1300" b="1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</a:t>
            </a:r>
            <a:endParaRPr lang="en-US" sz="3800" dirty="0"/>
          </a:p>
        </p:txBody>
      </p:sp>
      <p:sp>
        <p:nvSpPr>
          <p:cNvPr id="21" name="Text 18"/>
          <p:cNvSpPr txBox="1"/>
          <p:nvPr/>
        </p:nvSpPr>
        <p:spPr>
          <a:xfrm>
            <a:off x="9747504" y="3657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↔ 지방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간선 운행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2025년 4월 회사소개서 기준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COMPANY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재경, 이어지는 물류의 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운수사업으로 출발해 대기업 운송, 중계물류, 3PL·풀필먼트까지 — 식품 유통 분야에 특화된 물류 솔루션을 제공합니다.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400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212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0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2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재경로지스｜물류 (유한회사 재경로지스 · 유한회사 재경물류 · 재경상운)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0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2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2013년 (화물자동차 운수사업·운송주선)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0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대표이사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2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염달성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0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2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광주광역시 광산구 앰코로 35, 245호 (쌍암동, 폭스존)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0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2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유한회사 재경물류 (경기 평택시 비전2로 79) · 여수지사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A70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사업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2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콜드체인 3PL · 신선식품 풀필먼트 · 기업운송 · 보관물류 · 물류컨설팅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F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대형 물류센터 전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103120"/>
            <a:ext cx="4370832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269480" y="4754880"/>
            <a:ext cx="1024128" cy="1234440"/>
          </a:xfrm>
          <a:prstGeom prst="roundRect">
            <a:avLst>
              <a:gd name="adj" fmla="val 10714"/>
            </a:avLst>
          </a:prstGeom>
          <a:solidFill>
            <a:srgbClr val="07104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379208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79208" y="5440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창립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380476" y="4754880"/>
            <a:ext cx="1024128" cy="1234440"/>
          </a:xfrm>
          <a:prstGeom prst="roundRect">
            <a:avLst>
              <a:gd name="adj" fmla="val 10714"/>
            </a:avLst>
          </a:prstGeom>
          <a:solidFill>
            <a:srgbClr val="EEF1F7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490204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2021~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490204" y="5440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전담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491472" y="4754880"/>
            <a:ext cx="1024128" cy="1234440"/>
          </a:xfrm>
          <a:prstGeom prst="roundRect">
            <a:avLst>
              <a:gd name="adj" fmla="val 10714"/>
            </a:avLst>
          </a:prstGeom>
          <a:solidFill>
            <a:srgbClr val="EEF1F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601200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2023~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0" y="5440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웰스토리·그린푸드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0602468" y="4754880"/>
            <a:ext cx="1024128" cy="1234440"/>
          </a:xfrm>
          <a:prstGeom prst="roundRect">
            <a:avLst>
              <a:gd name="adj" fmla="val 10714"/>
            </a:avLst>
          </a:prstGeom>
          <a:solidFill>
            <a:srgbClr val="EEF1F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712196" y="4937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0712196" y="5440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CEO MESSAGE</a:t>
            </a:r>
            <a:endParaRPr lang="en-US" sz="1100" dirty="0"/>
          </a:p>
        </p:txBody>
      </p:sp>
      <p:pic>
        <p:nvPicPr>
          <p:cNvPr id="3" name="Image 0" descr="재경로지스｜물류 대표이사 염달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474720" cy="4334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46320" y="12801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현장을 이해하는 물류로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성장을 잇겠습니다.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274320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재경은 2013년 창립 이래 대기업 운송과 중계물류, 풀필먼트 현장에서 답을 찾아 왔습니다. 지금은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HL홀딩스와의 파트너십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바탕으로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삼성웰스토리·현대그린푸드의 신선 유통물류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온라인 유통 브랜드의 출고를 책임지고 있습니다.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6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온도와 시간이 품질이 되는 신선물류에서, 약속한 시간에 약속한 상태로 전달하는 것 — 그것이 재경이 지켜 온 기준이며 앞으로도 변하지 않을 원칙입니다.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5212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염달성  </a:t>
            </a:r>
            <a:pPr indent="0" marL="0">
              <a:buNone/>
            </a:pPr>
            <a:r>
              <a:rPr lang="en-US" sz="12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대표이사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STRATEGIC PARTNERSHIP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파트너십 — 유통물류를 책임지는 협력사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21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2021.07~ HL홀딩스 전담 물류사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94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B2C 콜드체인 3PL을 시작으로 HL홀딩스의 전담 물류 파트너로 자리 잡았습니다.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2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2023.12~ 대형 급식·식자재 유통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20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HL홀딩스와 삼성웰스토리 DC를 공동 운영하고, 현대그린푸드 동탄 TC를 전담 운영합니다.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121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480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온라인·신선 3PL 확장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846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바르닭·작심닭 등 B2B 온라인 유통과 그 외 다수 신선식품 브랜드의 3PL을 수행합니다.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17373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21A45"/>
          </a:solidFill>
          <a:ln w="12700">
            <a:solidFill>
              <a:srgbClr val="3A44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동탄냉장 · 유통 파트너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0" cy="1188720"/>
          </a:xfrm>
          <a:prstGeom prst="line">
            <a:avLst/>
          </a:prstGeom>
          <a:noFill/>
          <a:ln w="25400">
            <a:solidFill>
              <a:srgbClr val="5FE0D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72200" y="3154680"/>
            <a:ext cx="1188720" cy="329184"/>
          </a:xfrm>
          <a:prstGeom prst="roundRect">
            <a:avLst>
              <a:gd name="adj" fmla="val 33333"/>
            </a:avLst>
          </a:prstGeom>
          <a:solidFill>
            <a:srgbClr val="0FB5A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31546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Since 2021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9319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A46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7784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유통물류 전담 협력사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7955280" y="2011680"/>
            <a:ext cx="822960" cy="2496312"/>
          </a:xfrm>
          <a:prstGeom prst="line">
            <a:avLst/>
          </a:prstGeom>
          <a:noFill/>
          <a:ln w="19050">
            <a:solidFill>
              <a:srgbClr val="8EA4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3960" y="1600200"/>
            <a:ext cx="2788920" cy="822960"/>
          </a:xfrm>
          <a:prstGeom prst="roundRect">
            <a:avLst>
              <a:gd name="adj" fmla="val 13333"/>
            </a:avLst>
          </a:prstGeom>
          <a:solidFill>
            <a:srgbClr val="121A45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06840" y="1728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 DC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2023.12 ~ 현재 · HL 공동운영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V="1">
            <a:off x="7955280" y="3108960"/>
            <a:ext cx="822960" cy="1399032"/>
          </a:xfrm>
          <a:prstGeom prst="line">
            <a:avLst/>
          </a:prstGeom>
          <a:noFill/>
          <a:ln w="19050">
            <a:solidFill>
              <a:srgbClr val="8EA4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2788920" cy="822960"/>
          </a:xfrm>
          <a:prstGeom prst="roundRect">
            <a:avLst>
              <a:gd name="adj" fmla="val 13333"/>
            </a:avLst>
          </a:prstGeom>
          <a:solidFill>
            <a:srgbClr val="121A45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06840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현대그린푸드 TC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2023.12 ~ 현재 · 동탄 TC 전담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V="1">
            <a:off x="7955280" y="4206240"/>
            <a:ext cx="822960" cy="301752"/>
          </a:xfrm>
          <a:prstGeom prst="line">
            <a:avLst/>
          </a:prstGeom>
          <a:noFill/>
          <a:ln w="19050">
            <a:solidFill>
              <a:srgbClr val="8EA4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23960" y="3794760"/>
            <a:ext cx="2788920" cy="822960"/>
          </a:xfrm>
          <a:prstGeom prst="roundRect">
            <a:avLst>
              <a:gd name="adj" fmla="val 13333"/>
            </a:avLst>
          </a:prstGeom>
          <a:solidFill>
            <a:srgbClr val="121A45"/>
          </a:solidFill>
          <a:ln w="12700">
            <a:solidFill>
              <a:srgbClr val="4A5A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06840" y="3922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온라인 유통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 · 작심닭 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4507992"/>
            <a:ext cx="822960" cy="795528"/>
          </a:xfrm>
          <a:prstGeom prst="line">
            <a:avLst/>
          </a:prstGeom>
          <a:noFill/>
          <a:ln w="19050">
            <a:solidFill>
              <a:srgbClr val="5FE0D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823960" y="4892040"/>
            <a:ext cx="2788920" cy="822960"/>
          </a:xfrm>
          <a:prstGeom prst="roundRect">
            <a:avLst>
              <a:gd name="adj" fmla="val 13333"/>
            </a:avLst>
          </a:prstGeom>
          <a:solidFill>
            <a:srgbClr val="0E3A4A"/>
          </a:solidFill>
          <a:ln w="12700">
            <a:solidFill>
              <a:srgbClr val="5FE0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06840" y="5020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신선식품 3PL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006840" y="5349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다수 신선 브랜드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TRACK RECORD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수행 실적 (2023 ~ 현재)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급식·식자재 유통사의 신선 물동량과 온라인 브랜드의 B2B 출고를 동시에 운영합니다.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6" name="Image 0" descr="삼성웰스토리 D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75688"/>
            <a:ext cx="2615184" cy="1645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2023.12 — 현재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 DC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617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B2B/B2C 콜드체인 3PL. HL홀딩스와 DC(배송센터) 공동 운영.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11" name="Image 1" descr="현대그린푸드 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075688"/>
            <a:ext cx="2615184" cy="1645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84448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2023.12 — 현재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현대그린푸드 TC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4617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동탄 TC(통과형 센터) 전담 운영. 입고 즉시 분류·출고로 리드타임 단축.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16" name="Image 2" descr="바르닭 · 작심닭 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2075688"/>
            <a:ext cx="2615184" cy="1645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1656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온라인 유통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 · 작심닭 등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4617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식품 브랜드의 B2B 유통 출고를 책임 운영. 주문 수신부터 납품까지.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0264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pic>
        <p:nvPicPr>
          <p:cNvPr id="21" name="Image 3" descr="다수 신선 브랜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2075688"/>
            <a:ext cx="2615184" cy="1645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신선식품 3PL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신선 브랜드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198864" y="46177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냉장·냉동 신선식품의 입고·보관·풀필먼트를 브랜드별 운영 기준에 맞춰 수행.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CLIENT NETWORK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대표 유통·식품 기업이 선택한 파트너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50~60여 개 고객사·협력사와 파트너십을 이어가며, 고객사는 꾸준히 늘고 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0710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EA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식자재·급식 유통 3PL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1D2A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6974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1D2A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3246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1D2A7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3794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현대그린푸드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1D2A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4343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동원홈푸드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1D2A7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4892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CJ제일제당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55848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8444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유통 콜드체인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38728" y="269748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03320" y="26974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38728" y="324612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03320" y="3246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38728" y="379476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03320" y="3794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배민 B마트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38728" y="434340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03320" y="4343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신세계유통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38728" y="489204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03320" y="4892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38728" y="544068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03320" y="54406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작심닭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63056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91656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리테일·풀필먼트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45936" y="269748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10528" y="26974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이마트에브리데이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45936" y="324612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10528" y="3246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푸디버스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45936" y="379476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10528" y="3794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푸드나무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45936" y="434340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10528" y="4343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현대홈쇼핑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970264" y="2057400"/>
            <a:ext cx="2651760" cy="4069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98864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운송·택배 협력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53144" y="269748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317736" y="26974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LX판토스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153144" y="324612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317736" y="3246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CJ대한통운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153144" y="379476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317736" y="3794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롯데택배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153144" y="434340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317736" y="4343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경동택배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153144" y="4892040"/>
            <a:ext cx="2286000" cy="438912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317736" y="4892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한샘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 · 고객사명은 수행 이력 기준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INFRASTRUCTURE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전국을 잇는 센터·운송 인프라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8EDFF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417320" y="2514600"/>
            <a:ext cx="1371600" cy="2651760"/>
          </a:xfrm>
          <a:prstGeom prst="line">
            <a:avLst/>
          </a:prstGeom>
          <a:noFill/>
          <a:ln w="19050">
            <a:solidFill>
              <a:srgbClr val="1A46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88920" y="2514600"/>
            <a:ext cx="1097280" cy="2468880"/>
          </a:xfrm>
          <a:prstGeom prst="line">
            <a:avLst/>
          </a:prstGeom>
          <a:noFill/>
          <a:ln w="19050">
            <a:solidFill>
              <a:srgbClr val="1A46F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514600" y="2240280"/>
            <a:ext cx="274320" cy="274320"/>
          </a:xfrm>
          <a:prstGeom prst="ellipse">
            <a:avLst/>
          </a:prstGeom>
          <a:solidFill>
            <a:srgbClr val="1A4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이천 · 안성1·2 · 동탄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4892040"/>
            <a:ext cx="274320" cy="274320"/>
          </a:xfrm>
          <a:prstGeom prst="ellipse">
            <a:avLst/>
          </a:prstGeom>
          <a:solidFill>
            <a:srgbClr val="0FB5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5212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호남 · 광주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5468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 센터 · 본사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4709160"/>
            <a:ext cx="274320" cy="274320"/>
          </a:xfrm>
          <a:prstGeom prst="ellipse">
            <a:avLst/>
          </a:prstGeom>
          <a:solidFill>
            <a:srgbClr val="0FB5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영남 · 울주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5285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 센터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365일 간선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164592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1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35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3개 센터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이천·안성 1·2센터와 동탄 물류단지를 중심으로 쿠팡·컬리·B마트 등 온라인 유통 콜드체인 운영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0" y="164592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1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호남·영남 식자재 센터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광주·울주 식자재 거점으로 지역 급식·식자재 배송 대응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74920" y="393192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EEF1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03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직영 차량 300여 대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709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1톤부터 25톤까지 — 기업물류·특수화물·납품운송·365일 정기 간선</a:t>
            </a:r>
            <a:endParaRPr lang="en-US" sz="1150" dirty="0"/>
          </a:p>
        </p:txBody>
      </p:sp>
      <p:pic>
        <p:nvPicPr>
          <p:cNvPr id="26" name="Image 0" descr="고속도로를 달리는 화물 트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931920"/>
            <a:ext cx="3200400" cy="21031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 · 거점 현황은 2025년 4월 기준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CORE COMPETENCE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재경의 핵심 역량</a:t>
            </a:r>
            <a:endParaRPr lang="en-US" sz="2800" dirty="0"/>
          </a:p>
        </p:txBody>
      </p:sp>
      <p:pic>
        <p:nvPicPr>
          <p:cNvPr id="4" name="Image 0" descr="저온 창고 출입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2062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4206240" cy="548640"/>
          </a:xfrm>
          <a:prstGeom prst="rect">
            <a:avLst/>
          </a:prstGeom>
          <a:solidFill>
            <a:srgbClr val="050A2B">
              <a:alpha val="70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5577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콜드체인 · 온도가 곧 품질입니다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74920" y="1554480"/>
            <a:ext cx="6565392" cy="1051560"/>
          </a:xfrm>
          <a:prstGeom prst="roundRect">
            <a:avLst>
              <a:gd name="adj" fmla="val 10435"/>
            </a:avLst>
          </a:prstGeom>
          <a:solidFill>
            <a:srgbClr val="EEF1F7"/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17830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035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17190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-20℃ ~ +15℃ 콜드체인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06654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냉동·냉장·정온 온도대를 모두 다루고, 24시간 실시간 온도 모니터링으로 신선도를 지킵니다.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74920" y="2724912"/>
            <a:ext cx="6565392" cy="1051560"/>
          </a:xfrm>
          <a:prstGeom prst="roundRect">
            <a:avLst>
              <a:gd name="adj" fmla="val 10435"/>
            </a:avLst>
          </a:prstGeom>
          <a:solidFill>
            <a:srgbClr val="EEF1F7"/>
          </a:solidFill>
          <a:ln/>
        </p:spPr>
      </p:sp>
      <p:sp>
        <p:nvSpPr>
          <p:cNvPr id="13" name="Shape 10"/>
          <p:cNvSpPr/>
          <p:nvPr/>
        </p:nvSpPr>
        <p:spPr>
          <a:xfrm>
            <a:off x="5303520" y="29535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03520" y="2953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2889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HACCP 기준 위생 관리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2369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식자재 물류에 맞춘 위생 관리 체계와 숙련 인력으로 안전한 식품 유통을 보장합니다.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895344"/>
            <a:ext cx="6565392" cy="1051560"/>
          </a:xfrm>
          <a:prstGeom prst="roundRect">
            <a:avLst>
              <a:gd name="adj" fmla="val 10435"/>
            </a:avLst>
          </a:prstGeom>
          <a:solidFill>
            <a:srgbClr val="EEF1F7"/>
          </a:solidFill>
          <a:ln/>
        </p:spPr>
      </p:sp>
      <p:sp>
        <p:nvSpPr>
          <p:cNvPr id="18" name="Shape 15"/>
          <p:cNvSpPr/>
          <p:nvPr/>
        </p:nvSpPr>
        <p:spPr>
          <a:xfrm>
            <a:off x="5303520" y="4123944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03520" y="41239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40599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DC·TC·B2B·B2C 복합 운영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44074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보관형·통과형·온라인 출고를 한 조직에서 운영해 물동량 변화에 유연하게 대응합니다.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74920" y="5065776"/>
            <a:ext cx="6565392" cy="1051560"/>
          </a:xfrm>
          <a:prstGeom prst="roundRect">
            <a:avLst>
              <a:gd name="adj" fmla="val 10435"/>
            </a:avLst>
          </a:prstGeom>
          <a:solidFill>
            <a:srgbClr val="EEF1F7"/>
          </a:solidFill>
          <a:ln/>
        </p:spPr>
      </p:sp>
      <p:sp>
        <p:nvSpPr>
          <p:cNvPr id="23" name="Shape 20"/>
          <p:cNvSpPr/>
          <p:nvPr/>
        </p:nvSpPr>
        <p:spPr>
          <a:xfrm>
            <a:off x="5303520" y="529437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303520" y="52943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126480" y="52303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+ 운송 원스톱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5577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직영 차량과 간선망을 함께 가져 센터 운영부터 배송까지 한 번에 책임집니다.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OPERATING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신선 운영 모델을 한 조직에서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보관형(DC)·통과형(TC)·B2B 온라인 출고를 모두 운영해 본 경험이 재경의 차별점입니다.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EEF1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67712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710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677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49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Distribution Center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재고를 보관하며 주문 단위로 분류·배송하는 보관형 센터 운영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429000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4290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290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· 온도 검수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959352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95935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593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냉장·냉동 보관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489704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4897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8970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주문별 피킹·분류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0056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02005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020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· 납품 확인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669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수행: 삼성웰스토리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01168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EEF1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2267712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710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22677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2249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Transfer Center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없이 입고 즉시 행선지별로 분류해 내보내는 통과형 운영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3429000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34290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34290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입고 · 검수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26280" y="3959352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63440" y="395935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39593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행선지별 즉시 분류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26280" y="4489704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63440" y="44897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448970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크로스도킹 상차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26280" y="5020056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63440" y="502005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074920" y="5020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출고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26280" y="5669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수행: 현대그린푸드 (동탄)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0" y="201168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EEF1F7"/>
          </a:solidFill>
          <a:ln/>
        </p:spPr>
      </p:sp>
      <p:sp>
        <p:nvSpPr>
          <p:cNvPr id="42" name="Shape 40"/>
          <p:cNvSpPr/>
          <p:nvPr/>
        </p:nvSpPr>
        <p:spPr>
          <a:xfrm>
            <a:off x="8275320" y="2267712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710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275320" y="22677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915400" y="2249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Online Fulfillment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식품 브랜드의 거래처 주문을 받아 출고까지 대행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3429000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412480" y="34290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823960" y="34290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수신 · 확인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275320" y="3959352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412480" y="395935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823960" y="39593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· 패킹(보냉)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275320" y="4489704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412480" y="44897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823960" y="448970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출고 · 운송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275320" y="5020056"/>
            <a:ext cx="31089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412480" y="502005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823960" y="5020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2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재고·출고 리포트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275320" y="5669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수행: 바르닭 · 작심닭 등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BUSINESS AREA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물류 서비스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콜드체인 3PL과 신선식품 풀필먼트를 중심으로, 고객 운영에 필요한 물류 영역을 한곳에서 연결합니다.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07104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68880"/>
            <a:ext cx="640080" cy="640080"/>
          </a:xfrm>
          <a:prstGeom prst="ellipse">
            <a:avLst/>
          </a:prstGeom>
          <a:solidFill>
            <a:srgbClr val="1D2A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3PL 물류대행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148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입고·보관·주문 처리·출고까지 물류 업무 일괄 대행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98064" y="219456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071044"/>
          </a:solidFill>
          <a:ln/>
        </p:spPr>
      </p:sp>
      <p:sp>
        <p:nvSpPr>
          <p:cNvPr id="11" name="Shape 9"/>
          <p:cNvSpPr/>
          <p:nvPr/>
        </p:nvSpPr>
        <p:spPr>
          <a:xfrm>
            <a:off x="3026664" y="2468880"/>
            <a:ext cx="640080" cy="640080"/>
          </a:xfrm>
          <a:prstGeom prst="ellipse">
            <a:avLst/>
          </a:prstGeom>
          <a:solidFill>
            <a:srgbClr val="1D2A7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266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신선식품 풀필먼트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41148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B2B·B2C 주문 접수부터 피킹·보냉 포장·배송까지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47488" y="219456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76088" y="2468880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7608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기업운송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76088" y="41148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기업물류·특수화물·납품운송·정기 간선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96912" y="219456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25512" y="2468880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2551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보관물류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41148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냉동·냉장·상온 보관 조건과 입출고 연계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46336" y="219456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74936" y="2468880"/>
            <a:ext cx="640080" cy="640080"/>
          </a:xfrm>
          <a:prstGeom prst="ellipse">
            <a:avLst/>
          </a:prstGeom>
          <a:solidFill>
            <a:srgbClr val="E8ED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7493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74936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물류컨설팅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74936" y="41148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냉장센터 설계·운영 시스템 구축·물류비 절감 진단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HISTORY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재경이 걸어온 길, 2013 —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25400">
            <a:solidFill>
              <a:srgbClr val="2A34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2013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 설립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운수사업·운송주선 개시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938528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8528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 운송 및 구간 택배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롯데칠성·삼성전자·대림산업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328416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28416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8416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한화케미칼·LG화학·한샘 특판 운송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18304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18304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현대리바트·아모레퍼시픽·이마트에브리데이 운송·중계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08192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08192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08192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전담 물류 개시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 콜드체인 3PL, 안성 1센터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98080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컬리 콜드체인 3PL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887968" y="2679192"/>
            <a:ext cx="219456" cy="219456"/>
          </a:xfrm>
          <a:prstGeom prst="ellipse">
            <a:avLst/>
          </a:prstGeom>
          <a:solidFill>
            <a:srgbClr val="050A2B"/>
          </a:solidFill>
          <a:ln w="25400">
            <a:solidFill>
              <a:srgbClr val="8EA4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87968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삼성웰스토리 DC·현대그린푸드 동탄 TC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B마트·푸디버스, 안성 2센터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277856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2024–26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277856" y="2679192"/>
            <a:ext cx="219456" cy="219456"/>
          </a:xfrm>
          <a:prstGeom prst="ellipse">
            <a:avLst/>
          </a:prstGeom>
          <a:solidFill>
            <a:srgbClr val="0FB5A4"/>
          </a:solidFill>
          <a:ln w="25400">
            <a:solidFill>
              <a:srgbClr val="0FB5A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77856" y="3108960"/>
            <a:ext cx="1280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3PL 운영 전담 파트너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바르닭·작심닭 B2B 온라인 유통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그룹웨어·전자결재 운영 체계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STRATEGY &amp;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전략 로드맵 2026 — 2028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E8ED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· 2026 하반기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안정화·신뢰 강화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동탄냉장 협력 운영 고도화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웰스토리 DC·그린푸드 TC 품질·정시율 관리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우수사업장 인정 추진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· 2027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 3PL 화주 확대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346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B2B·B2C 온라인 식품 브랜드 풀필먼트 확대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DC·TC 운영 노하우의 신규 유통사 제안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재고·출고·온도 데이터 리포트 표준화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0710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· 2028~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신선물류 네트워크 확장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8346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수도권·호남·영남 거점 연계 신선 물류망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물류컨설팅(냉장센터 설계·운영) 사업화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유통사 전속 파트너 모델 표준화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DFF7F3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486400"/>
            <a:ext cx="731520" cy="320040"/>
          </a:xfrm>
          <a:prstGeom prst="roundRect">
            <a:avLst>
              <a:gd name="adj" fmla="val 34286"/>
            </a:avLst>
          </a:prstGeom>
          <a:solidFill>
            <a:srgbClr val="0FB5A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86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3035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E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신선식품 유통물류 분야에서 “믿고 맡기는 전담 파트너” 포지션 확립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4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SAFETY &amp; ESG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곧 서비스 품질입니다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10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안전보건경영방침 운영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1월 방침 제정 이후 전 사업장 공통 기준으로 적용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9923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07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원청 협력사 안전보건관리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HL홀딩스 동탄냉장 협력사로서 안전보건관리계획 수립·이행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050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위험성평가 상시 운영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343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지게차·상하차·냉동창고 작업 등 유해위험요인 발굴과 개선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F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DFF7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1023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710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 품질 관리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440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0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온도 검수·24시간 온도 모니터링·보냉 출고로 품질 사고 예방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1645920"/>
            <a:ext cx="4325112" cy="4251960"/>
          </a:xfrm>
          <a:prstGeom prst="roundRect">
            <a:avLst>
              <a:gd name="adj" fmla="val 2581"/>
            </a:avLst>
          </a:prstGeom>
          <a:solidFill>
            <a:srgbClr val="071044"/>
          </a:solidFill>
          <a:ln/>
        </p:spPr>
      </p:sp>
      <p:pic>
        <p:nvPicPr>
          <p:cNvPr id="25" name="Image 0" descr="정렬된 지게차와 안전 통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4325112" cy="17373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635240" y="3611880"/>
            <a:ext cx="2194560" cy="310896"/>
          </a:xfrm>
          <a:prstGeom prst="roundRect">
            <a:avLst>
              <a:gd name="adj" fmla="val 35294"/>
            </a:avLst>
          </a:prstGeom>
          <a:solidFill>
            <a:srgbClr val="114A5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635240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CONTRIBUTION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4069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지역과 함께 성장하는 기업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635240" y="4526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광주광역시장애인체육회 후원기업으로 장애인 체육 발전을 지원하는 등, 본사가 있는 지역 사회와 함께 성장하는 활동을 이어가고 있습니다.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2B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신선물류의 다음 단계,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8EA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재경과 함께 설계하세요.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374904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대표전화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070-8098-4559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31920" y="374904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0624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062-952-9794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0" y="374904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21A45">
              <a:alpha val="85000"/>
            </a:srgbClr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contact@jeakyung.com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5FE0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jeakyung.com/business-plan</a:t>
            </a:r>
            <a:pPr indent="0" marL="0">
              <a:buNone/>
            </a:pPr>
            <a:r>
              <a:rPr lang="en-US" sz="12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카카오톡 상담 pf.kakao.com/_xgrFxhn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재경로지스｜물류 · 2026 사업계획서 · 사진: Unsplash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재경로지스｜물류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사업계획서</dc:title>
  <dc:subject>PptxGenJS Presentation</dc:subject>
  <dc:creator>재경로지스｜물류</dc:creator>
  <cp:lastModifiedBy>재경로지스｜물류</cp:lastModifiedBy>
  <cp:revision>1</cp:revision>
  <dcterms:created xsi:type="dcterms:W3CDTF">2026-09-28T08:12:05Z</dcterms:created>
  <dcterms:modified xsi:type="dcterms:W3CDTF">2026-09-28T08:12:05Z</dcterms:modified>
</cp:coreProperties>
</file>