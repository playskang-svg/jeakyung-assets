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image" Target="../media/image-5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jeakyung.com/company-profile/" TargetMode="External"/><Relationship Id="rId1" Type="http://schemas.openxmlformats.org/officeDocument/2006/relationships/image" Target="../media/image-14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2B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rgbClr val="050A2B">
              <a:alpha val="75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PROFILE 2026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COLD-CHAIN 3PL &amp; FRESH LOGISTICS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0312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신선물류,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8EA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재경에 맡기세요.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947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냉동·냉장 식자재부터 온라인 신선식품까지. 보관·풀필먼트·운송을 한 번에 책임지는 콜드체인 3PL 파트너, 재경로지스｜물류입니다.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754880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1A46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4754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상담 신청 →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760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대표전화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989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070-8098-4559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743200" y="5760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5989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contact@jeakyung.com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0" y="5760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5989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jeakyung.com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2B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보는 재경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운송에서 시작해 콜드체인 3PL까지. 현장에서 쌓은 인프라가 곧 경쟁력입니다.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2103120" cy="2468880"/>
          </a:xfrm>
          <a:prstGeom prst="roundRect">
            <a:avLst>
              <a:gd name="adj" fmla="val 5217"/>
            </a:avLst>
          </a:prstGeom>
          <a:solidFill>
            <a:srgbClr val="121A45">
              <a:alpha val="90000"/>
            </a:srgbClr>
          </a:solidFill>
          <a:ln w="12700">
            <a:solidFill>
              <a:srgbClr val="2A347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51460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9808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</a:t>
            </a:r>
            <a:pPr indent="0" marL="0">
              <a:buNone/>
            </a:pPr>
            <a:r>
              <a:rPr lang="en-US" sz="1300" b="1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 대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3886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직영 차량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1톤 ~ 25톤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98064" y="2286000"/>
            <a:ext cx="2103120" cy="2468880"/>
          </a:xfrm>
          <a:prstGeom prst="roundRect">
            <a:avLst>
              <a:gd name="adj" fmla="val 5217"/>
            </a:avLst>
          </a:prstGeom>
          <a:solidFill>
            <a:srgbClr val="121A45">
              <a:alpha val="90000"/>
            </a:srgbClr>
          </a:solidFill>
          <a:ln w="12700">
            <a:solidFill>
              <a:srgbClr val="2A347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251460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999232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pPr indent="0" marL="0">
              <a:buNone/>
            </a:pPr>
            <a:r>
              <a:rPr lang="en-US" sz="1300" b="1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 개</a:t>
            </a:r>
            <a:endParaRPr lang="en-US" sz="3800" dirty="0"/>
          </a:p>
        </p:txBody>
      </p:sp>
      <p:sp>
        <p:nvSpPr>
          <p:cNvPr id="14" name="Text 9"/>
          <p:cNvSpPr txBox="1"/>
          <p:nvPr/>
        </p:nvSpPr>
        <p:spPr>
          <a:xfrm>
            <a:off x="2999232" y="3886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고객사·협력사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파트너십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47488" y="2286000"/>
            <a:ext cx="2103120" cy="2468880"/>
          </a:xfrm>
          <a:prstGeom prst="roundRect">
            <a:avLst>
              <a:gd name="adj" fmla="val 5217"/>
            </a:avLst>
          </a:prstGeom>
          <a:solidFill>
            <a:srgbClr val="121A45">
              <a:alpha val="90000"/>
            </a:srgbClr>
          </a:solidFill>
          <a:ln w="12700">
            <a:solidFill>
              <a:srgbClr val="2A347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656" y="251460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248656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pPr indent="0" marL="0">
              <a:buNone/>
            </a:pPr>
            <a:r>
              <a:rPr lang="en-US" sz="1300" b="1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 권역</a:t>
            </a:r>
            <a:endParaRPr lang="en-US" sz="3800" dirty="0"/>
          </a:p>
        </p:txBody>
      </p:sp>
      <p:sp>
        <p:nvSpPr>
          <p:cNvPr id="18" name="Text 12"/>
          <p:cNvSpPr txBox="1"/>
          <p:nvPr/>
        </p:nvSpPr>
        <p:spPr>
          <a:xfrm>
            <a:off x="5248656" y="3886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 3센터 +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호남·영남 식자재 센터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296912" y="2286000"/>
            <a:ext cx="2103120" cy="2468880"/>
          </a:xfrm>
          <a:prstGeom prst="roundRect">
            <a:avLst>
              <a:gd name="adj" fmla="val 5217"/>
            </a:avLst>
          </a:prstGeom>
          <a:solidFill>
            <a:srgbClr val="0E3A4A">
              <a:alpha val="90000"/>
            </a:srgbClr>
          </a:solidFill>
          <a:ln w="12700">
            <a:solidFill>
              <a:srgbClr val="5FE0D2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51460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498080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-20~15</a:t>
            </a:r>
            <a:pPr indent="0" marL="0">
              <a:buNone/>
            </a:pPr>
            <a:r>
              <a:rPr lang="en-US" sz="1300" b="1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℃</a:t>
            </a:r>
            <a:endParaRPr lang="en-US" sz="2800" dirty="0"/>
          </a:p>
        </p:txBody>
      </p:sp>
      <p:sp>
        <p:nvSpPr>
          <p:cNvPr id="22" name="Text 15"/>
          <p:cNvSpPr txBox="1"/>
          <p:nvPr/>
        </p:nvSpPr>
        <p:spPr>
          <a:xfrm>
            <a:off x="7498080" y="3886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콜드체인 온도대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모니터링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9546336" y="2286000"/>
            <a:ext cx="2103120" cy="2468880"/>
          </a:xfrm>
          <a:prstGeom prst="roundRect">
            <a:avLst>
              <a:gd name="adj" fmla="val 5217"/>
            </a:avLst>
          </a:prstGeom>
          <a:solidFill>
            <a:srgbClr val="121A45">
              <a:alpha val="90000"/>
            </a:srgbClr>
          </a:solidFill>
          <a:ln w="12700">
            <a:solidFill>
              <a:srgbClr val="2A347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4" y="2514600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747504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365</a:t>
            </a:r>
            <a:pPr indent="0" marL="0">
              <a:buNone/>
            </a:pPr>
            <a:r>
              <a:rPr lang="en-US" sz="1300" b="1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</a:t>
            </a:r>
            <a:endParaRPr lang="en-US" sz="3800" dirty="0"/>
          </a:p>
        </p:txBody>
      </p:sp>
      <p:sp>
        <p:nvSpPr>
          <p:cNvPr id="26" name="Text 18"/>
          <p:cNvSpPr txBox="1"/>
          <p:nvPr/>
        </p:nvSpPr>
        <p:spPr>
          <a:xfrm>
            <a:off x="9747504" y="3886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 ↔ 지방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간선 운행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수치는 2025년 4월 기준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회사소개서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 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현장을 이해하는 물류, 재경로지스｜물류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2013년 화물 운수사업으로 출발해 대기업 운송·중계물류를 거쳐, 지금은 </a:t>
            </a:r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4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식자재·신선식품 콜드체인 3PL</a:t>
            </a:r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전문으로 하는 종합 물류 기업입니다.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EEF1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유한회사 재경로지스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· 광주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315468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EEF1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70632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유한회사 재경물류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70632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평택 · 3PL 운영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315468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EEF1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28032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재경상운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6035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pic>
        <p:nvPicPr>
          <p:cNvPr id="15" name="Image 0" descr="대표이사 염달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572000"/>
            <a:ext cx="1005840" cy="1005840"/>
          </a:xfrm>
          <a:prstGeom prst="ellipse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2057400" y="45262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“온도와 시간이 품질이 되는 신선물류에서, 약속한 시간에 약속한 상태로 전달하는 것 — 그것이 재경의 기준입니다.”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05740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대표이사 </a:t>
            </a:r>
            <a:pPr indent="0" marL="0">
              <a:buNone/>
            </a:pPr>
            <a:r>
              <a:rPr lang="en-US" sz="11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염달성</a:t>
            </a:r>
            <a:endParaRPr lang="en-US" sz="1100" dirty="0"/>
          </a:p>
        </p:txBody>
      </p:sp>
      <p:pic>
        <p:nvPicPr>
          <p:cNvPr id="18" name="Image 1" descr="대형 물류센터 전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645920"/>
            <a:ext cx="4846320" cy="42062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회사소개서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JAEKYUNG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재경을 선택해야 하는 4가지 이유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EE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011680" y="19659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CE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868680" cy="868680"/>
          </a:xfrm>
          <a:prstGeom prst="ellipse">
            <a:avLst/>
          </a:prstGeom>
          <a:solidFill>
            <a:srgbClr val="1A46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04872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337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대기업이 검증한 운영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 전담 물류사로 삼성웰스토리 DC·현대그린푸드 TC를 운영합니다.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55848" y="182880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EEF1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18888" y="19659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CE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3630168" y="2194560"/>
            <a:ext cx="868680" cy="868680"/>
          </a:xfrm>
          <a:prstGeom prst="ellipse">
            <a:avLst/>
          </a:prstGeom>
          <a:solidFill>
            <a:srgbClr val="0FB5A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40487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30168" y="3337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-20℃~+15℃ 콜드체인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630168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냉동·냉장·정온 전 온도대, 24시간 온도 모니터링, HACCP 기준 위생 관리.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63056" y="182880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EEF1F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626096" y="19659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CE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Shape 14"/>
          <p:cNvSpPr/>
          <p:nvPr/>
        </p:nvSpPr>
        <p:spPr>
          <a:xfrm>
            <a:off x="6437376" y="2194560"/>
            <a:ext cx="868680" cy="868680"/>
          </a:xfrm>
          <a:prstGeom prst="ellipse">
            <a:avLst/>
          </a:prstGeom>
          <a:solidFill>
            <a:srgbClr val="1A46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40487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37376" y="3337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 + 운송 원스톱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437376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직영 차량 300여 대와 365일 간선망. 보관부터 배송까지 한 곳에서.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970264" y="182880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EEF1F7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10433304" y="19659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CE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Shape 19"/>
          <p:cNvSpPr/>
          <p:nvPr/>
        </p:nvSpPr>
        <p:spPr>
          <a:xfrm>
            <a:off x="9244584" y="2194560"/>
            <a:ext cx="868680" cy="868680"/>
          </a:xfrm>
          <a:prstGeom prst="ellipse">
            <a:avLst/>
          </a:prstGeom>
          <a:solidFill>
            <a:srgbClr val="1A46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2404872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44584" y="3337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채널별 맞춤 운영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9244584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 DC, 통과형 TC, 온라인 B2B·B2C까지 — 채널에 맞는 운영을 설계합니다.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회사소개서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물류를 한곳에서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03120" cy="4572000"/>
          </a:xfrm>
          <a:prstGeom prst="roundRect">
            <a:avLst>
              <a:gd name="adj" fmla="val 5217"/>
            </a:avLst>
          </a:prstGeom>
          <a:solidFill>
            <a:srgbClr val="071044"/>
          </a:solidFill>
          <a:ln/>
        </p:spPr>
      </p:sp>
      <p:pic>
        <p:nvPicPr>
          <p:cNvPr id="5" name="Image 0" descr="3PL 물류대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609344"/>
            <a:ext cx="2084832" cy="2834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4617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873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3PL 물류대행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3035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입고·보관·주문 처리·출고 일괄 대행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98064" y="1600200"/>
            <a:ext cx="2103120" cy="4572000"/>
          </a:xfrm>
          <a:prstGeom prst="roundRect">
            <a:avLst>
              <a:gd name="adj" fmla="val 5217"/>
            </a:avLst>
          </a:prstGeom>
          <a:solidFill>
            <a:srgbClr val="071044"/>
          </a:solidFill>
          <a:ln/>
        </p:spPr>
      </p:sp>
      <p:pic>
        <p:nvPicPr>
          <p:cNvPr id="10" name="Image 1" descr="신선식품 풀필먼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1609344"/>
            <a:ext cx="2084832" cy="2834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80944" y="4617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2980944" y="4873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신선식품 풀필먼트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980944" y="53035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B2B·B2C 주문부터 보냉 포장·배송까지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47488" y="1600200"/>
            <a:ext cx="2103120" cy="45720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pic>
        <p:nvPicPr>
          <p:cNvPr id="15" name="Image 2" descr="기업운송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1609344"/>
            <a:ext cx="2084832" cy="2834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30368" y="4617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5230368" y="4873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기업운송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230368" y="53035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1~25톤 · 특수화물 · 납품 · 정기 간선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296912" y="1600200"/>
            <a:ext cx="2103120" cy="45720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pic>
        <p:nvPicPr>
          <p:cNvPr id="20" name="Image 3" descr="보관물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1609344"/>
            <a:ext cx="2084832" cy="28346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79792" y="4617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7479792" y="4873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보관물류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479792" y="53035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냉동·냉장·상온 보관과 입출고 연계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546336" y="1600200"/>
            <a:ext cx="2103120" cy="45720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pic>
        <p:nvPicPr>
          <p:cNvPr id="25" name="Image 4" descr="물류컨설팅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1609344"/>
            <a:ext cx="2084832" cy="28346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29216" y="4617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9729216" y="4873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물류컨설팅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9729216" y="53035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냉장센터 설계 · 운영 시스템 · 물류비 진단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회사소개서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2B">
              <a:alpha val="7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COLD-CHAIN CAPABILITY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온도가 곧 품질입니다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상품이 요구하는 온도대 그대로, 입고부터 출고까지 끊김 없이 관리합니다.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472684" cy="822960"/>
          </a:xfrm>
          <a:prstGeom prst="rect">
            <a:avLst/>
          </a:prstGeom>
          <a:solidFill>
            <a:srgbClr val="2E5E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560320"/>
            <a:ext cx="54726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냉동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021324" y="2560320"/>
            <a:ext cx="2784348" cy="822960"/>
          </a:xfrm>
          <a:prstGeom prst="rect">
            <a:avLst/>
          </a:prstGeom>
          <a:solidFill>
            <a:srgbClr val="14AD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021324" y="2560320"/>
            <a:ext cx="27843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805672" y="2560320"/>
            <a:ext cx="1344168" cy="822960"/>
          </a:xfrm>
          <a:prstGeom prst="rect">
            <a:avLst/>
          </a:prstGeom>
          <a:solidFill>
            <a:srgbClr val="F09A3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805672" y="2560320"/>
            <a:ext cx="1344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정온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493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9C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-20℃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021324" y="3493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9C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0℃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805672" y="3493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9C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+10℃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3493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+15℃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20624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21A45">
              <a:alpha val="85000"/>
            </a:srgbClr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389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24h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온도 모니터링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840480" y="420624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21A45">
              <a:alpha val="85000"/>
            </a:srgbClr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14800" y="4389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HACCP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411480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위생 관리 체계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32320" y="420624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21A45">
              <a:alpha val="85000"/>
            </a:srgbClr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06640" y="4389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보냉</a:t>
            </a:r>
            <a:endParaRPr lang="en-US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740664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 포장·차량 온도 유지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회사소개서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OPERATING MODELS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채널에 맞춘 세 가지 운영 방식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EEF1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47088"/>
            <a:ext cx="685800" cy="310896"/>
          </a:xfrm>
          <a:prstGeom prst="roundRect">
            <a:avLst>
              <a:gd name="adj" fmla="val 35294"/>
            </a:avLst>
          </a:prstGeom>
          <a:solidFill>
            <a:srgbClr val="0710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보관형 배송센터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급식·식자재 유통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39312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22494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입고·온도 검수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5400000">
            <a:off x="5276088" y="2212848"/>
            <a:ext cx="182880" cy="201168"/>
          </a:xfrm>
          <a:prstGeom prst="triangle">
            <a:avLst/>
          </a:prstGeom>
          <a:solidFill>
            <a:srgbClr val="1A4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192024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50992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50992" y="22494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냉장·냉동 보관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5400000">
            <a:off x="7287768" y="2212848"/>
            <a:ext cx="182880" cy="201168"/>
          </a:xfrm>
          <a:prstGeom prst="triangle">
            <a:avLst/>
          </a:prstGeom>
          <a:solidFill>
            <a:srgbClr val="1A46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0" y="192024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62672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662672" y="22494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주문별 피킹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5400000">
            <a:off x="9299448" y="2212848"/>
            <a:ext cx="182880" cy="201168"/>
          </a:xfrm>
          <a:prstGeom prst="triangle">
            <a:avLst/>
          </a:prstGeom>
          <a:solidFill>
            <a:srgbClr val="1A46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509760" y="192024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74352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674352" y="22494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배송·납품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15468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EEF1F7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3355848"/>
            <a:ext cx="685800" cy="310896"/>
          </a:xfrm>
          <a:prstGeom prst="roundRect">
            <a:avLst>
              <a:gd name="adj" fmla="val 35294"/>
            </a:avLst>
          </a:prstGeom>
          <a:solidFill>
            <a:srgbClr val="0710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335584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3721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통과형 센터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크로스도킹 물류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342900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639312" y="3520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639312" y="37581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입고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rot="5400000">
            <a:off x="5276088" y="3721608"/>
            <a:ext cx="182880" cy="201168"/>
          </a:xfrm>
          <a:prstGeom prst="triangle">
            <a:avLst/>
          </a:prstGeom>
          <a:solidFill>
            <a:srgbClr val="1A46FF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0" y="342900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650992" y="3520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650992" y="37581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행선지 분류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 rot="5400000">
            <a:off x="7287768" y="3721608"/>
            <a:ext cx="182880" cy="201168"/>
          </a:xfrm>
          <a:prstGeom prst="triangle">
            <a:avLst/>
          </a:prstGeom>
          <a:solidFill>
            <a:srgbClr val="1A46FF"/>
          </a:solidFill>
          <a:ln/>
        </p:spPr>
      </p:sp>
      <p:sp>
        <p:nvSpPr>
          <p:cNvPr id="37" name="Shape 35"/>
          <p:cNvSpPr/>
          <p:nvPr/>
        </p:nvSpPr>
        <p:spPr>
          <a:xfrm>
            <a:off x="7498080" y="342900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662672" y="3520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7662672" y="37581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상차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 rot="5400000">
            <a:off x="9299448" y="3721608"/>
            <a:ext cx="182880" cy="201168"/>
          </a:xfrm>
          <a:prstGeom prst="triangle">
            <a:avLst/>
          </a:prstGeom>
          <a:solidFill>
            <a:srgbClr val="1A46FF"/>
          </a:solidFill>
          <a:ln/>
        </p:spPr>
      </p:sp>
      <p:sp>
        <p:nvSpPr>
          <p:cNvPr id="41" name="Shape 39"/>
          <p:cNvSpPr/>
          <p:nvPr/>
        </p:nvSpPr>
        <p:spPr>
          <a:xfrm>
            <a:off x="9509760" y="342900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74352" y="3520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9674352" y="37581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출고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466344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EEF1F7"/>
          </a:solidFill>
          <a:ln/>
        </p:spPr>
      </p:sp>
      <p:sp>
        <p:nvSpPr>
          <p:cNvPr id="45" name="Shape 43"/>
          <p:cNvSpPr/>
          <p:nvPr/>
        </p:nvSpPr>
        <p:spPr>
          <a:xfrm>
            <a:off x="822960" y="4864608"/>
            <a:ext cx="685800" cy="310896"/>
          </a:xfrm>
          <a:prstGeom prst="roundRect">
            <a:avLst>
              <a:gd name="adj" fmla="val 35294"/>
            </a:avLst>
          </a:prstGeom>
          <a:solidFill>
            <a:srgbClr val="0FB5A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22960" y="486460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" y="5230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풀필먼트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" y="5577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D2C 식품 브랜드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74720" y="493776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639312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3639312" y="5266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수신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 rot="5400000">
            <a:off x="5276088" y="5230368"/>
            <a:ext cx="182880" cy="201168"/>
          </a:xfrm>
          <a:prstGeom prst="triangle">
            <a:avLst/>
          </a:prstGeom>
          <a:solidFill>
            <a:srgbClr val="0FB5A4"/>
          </a:solidFill>
          <a:ln/>
        </p:spPr>
      </p:sp>
      <p:sp>
        <p:nvSpPr>
          <p:cNvPr id="53" name="Shape 51"/>
          <p:cNvSpPr/>
          <p:nvPr/>
        </p:nvSpPr>
        <p:spPr>
          <a:xfrm>
            <a:off x="5486400" y="493776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650992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5650992" y="5266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피킹·보냉 패킹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 rot="5400000">
            <a:off x="7287768" y="5230368"/>
            <a:ext cx="182880" cy="201168"/>
          </a:xfrm>
          <a:prstGeom prst="triangle">
            <a:avLst/>
          </a:prstGeom>
          <a:solidFill>
            <a:srgbClr val="0FB5A4"/>
          </a:solidFill>
          <a:ln/>
        </p:spPr>
      </p:sp>
      <p:sp>
        <p:nvSpPr>
          <p:cNvPr id="57" name="Shape 55"/>
          <p:cNvSpPr/>
          <p:nvPr/>
        </p:nvSpPr>
        <p:spPr>
          <a:xfrm>
            <a:off x="7498080" y="493776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662672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662672" y="5266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출고·운송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 rot="5400000">
            <a:off x="9299448" y="5230368"/>
            <a:ext cx="182880" cy="201168"/>
          </a:xfrm>
          <a:prstGeom prst="triangle">
            <a:avLst/>
          </a:prstGeom>
          <a:solidFill>
            <a:srgbClr val="0FB5A4"/>
          </a:solidFill>
          <a:ln/>
        </p:spPr>
      </p:sp>
      <p:sp>
        <p:nvSpPr>
          <p:cNvPr id="61" name="Shape 59"/>
          <p:cNvSpPr/>
          <p:nvPr/>
        </p:nvSpPr>
        <p:spPr>
          <a:xfrm>
            <a:off x="9509760" y="493776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674352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9674352" y="5266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리포트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회사소개서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수행 사례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121A45"/>
          </a:solidFill>
          <a:ln w="12700">
            <a:solidFill>
              <a:srgbClr val="2A3470"/>
            </a:solidFill>
            <a:prstDash val="solid"/>
          </a:ln>
        </p:spPr>
      </p:sp>
      <p:pic>
        <p:nvPicPr>
          <p:cNvPr id="5" name="Image 0" descr="HL홀딩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609344"/>
            <a:ext cx="2633472" cy="2011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2021.07 ~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6177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홈쇼핑 B2C 콜드체인 3PL로 시작해 전담 물류 파트너로 성장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160020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121A45"/>
          </a:solidFill>
          <a:ln w="12700">
            <a:solidFill>
              <a:srgbClr val="2A3470"/>
            </a:solidFill>
            <a:prstDash val="solid"/>
          </a:ln>
        </p:spPr>
      </p:sp>
      <p:pic>
        <p:nvPicPr>
          <p:cNvPr id="10" name="Image 1" descr="삼성웰스토리 D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09344"/>
            <a:ext cx="2633472" cy="20116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84448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2023.12 ~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584448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삼성웰스토리 DC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84448" y="46177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HL홀딩스와 DC 공동 운영 · B2B/B2C 콜드체인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63056" y="160020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121A45"/>
          </a:solidFill>
          <a:ln w="12700">
            <a:solidFill>
              <a:srgbClr val="2A3470"/>
            </a:solidFill>
            <a:prstDash val="solid"/>
          </a:ln>
        </p:spPr>
      </p:sp>
      <p:pic>
        <p:nvPicPr>
          <p:cNvPr id="15" name="Image 2" descr="현대그린푸드 T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9344"/>
            <a:ext cx="2633472" cy="20116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91656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2023.12 ~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6391656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현대그린푸드 TC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91656" y="46177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동탄 TC 전담 운영 · 입고 즉시 분류·출고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70264" y="160020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121A45"/>
          </a:solidFill>
          <a:ln w="12700">
            <a:solidFill>
              <a:srgbClr val="2A3470"/>
            </a:solidFill>
            <a:prstDash val="solid"/>
          </a:ln>
        </p:spPr>
      </p:sp>
      <p:pic>
        <p:nvPicPr>
          <p:cNvPr id="20" name="Image 3" descr="바르닭 · 작심닭 등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1609344"/>
            <a:ext cx="2633472" cy="20116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98864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B2B 온라인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9198864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바르닭 · 작심닭 등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198864" y="46177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식품 브랜드의 B2B 유통 출고 책임 운영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회사소개서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CLIENTS &amp; PARTNERS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대표 유통·식품 기업과 함께합니다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50~60여 개 고객사·협력사와 파트너십을 이어가고 있습니다.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식자재 · 급식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2148840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0710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77440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86200" y="214884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710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8620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삼성웰스토리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214884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710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7784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현대그린푸드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69480" y="2148840"/>
            <a:ext cx="1234440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2148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동원홈푸드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41080" y="2148840"/>
            <a:ext cx="1389888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41080" y="21488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CJ제일제당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11064240" cy="0"/>
          </a:xfrm>
          <a:prstGeom prst="line">
            <a:avLst/>
          </a:prstGeom>
          <a:noFill/>
          <a:ln w="12700">
            <a:solidFill>
              <a:srgbClr val="DFE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유통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3154680"/>
            <a:ext cx="822960" cy="502920"/>
          </a:xfrm>
          <a:prstGeom prst="roundRect">
            <a:avLst>
              <a:gd name="adj" fmla="val 21818"/>
            </a:avLst>
          </a:prstGeom>
          <a:solidFill>
            <a:srgbClr val="0710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377440" y="3154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37560" y="3154680"/>
            <a:ext cx="822960" cy="502920"/>
          </a:xfrm>
          <a:prstGeom prst="roundRect">
            <a:avLst>
              <a:gd name="adj" fmla="val 21818"/>
            </a:avLst>
          </a:prstGeom>
          <a:solidFill>
            <a:srgbClr val="0710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337560" y="3154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컬리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0" y="3154680"/>
            <a:ext cx="1389888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97680" y="31546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배민 B마트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24728" y="3154680"/>
            <a:ext cx="1234440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24728" y="3154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신세계유통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96328" y="3154680"/>
            <a:ext cx="923544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96328" y="3154680"/>
            <a:ext cx="92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바르닭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57032" y="3154680"/>
            <a:ext cx="923544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57032" y="3154680"/>
            <a:ext cx="92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작심닭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886200"/>
            <a:ext cx="11064240" cy="0"/>
          </a:xfrm>
          <a:prstGeom prst="line">
            <a:avLst/>
          </a:prstGeom>
          <a:noFill/>
          <a:ln w="12700">
            <a:solidFill>
              <a:srgbClr val="DFE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160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리테일 · 풀필먼트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77440" y="4160520"/>
            <a:ext cx="1700784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377440" y="41605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이마트에브리데이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15384" y="4160520"/>
            <a:ext cx="1234440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215384" y="4160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현대홈쇼핑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586984" y="4160520"/>
            <a:ext cx="1078992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586984" y="416052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푸디버스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03136" y="4160520"/>
            <a:ext cx="1078992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803136" y="416052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푸드나무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DFE3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5166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운송 · 택배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377440" y="5166360"/>
            <a:ext cx="1234440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2377440" y="51663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LX판토스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749040" y="5166360"/>
            <a:ext cx="1389888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749040" y="516636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CJ대한통운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276088" y="5166360"/>
            <a:ext cx="1078992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276088" y="516636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롯데택배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92240" y="5166360"/>
            <a:ext cx="1078992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492240" y="516636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경동택배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708392" y="5166360"/>
            <a:ext cx="768096" cy="502920"/>
          </a:xfrm>
          <a:prstGeom prst="roundRect">
            <a:avLst>
              <a:gd name="adj" fmla="val 21818"/>
            </a:avLst>
          </a:prstGeom>
          <a:solidFill>
            <a:srgbClr val="EEF1F7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708392" y="5166360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한샘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5897880"/>
            <a:ext cx="11064240" cy="0"/>
          </a:xfrm>
          <a:prstGeom prst="line">
            <a:avLst/>
          </a:prstGeom>
          <a:noFill/>
          <a:ln w="12700">
            <a:solidFill>
              <a:srgbClr val="DFE3E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회사소개서 · 수행 이력 기준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전국을 잇는 센터·운송 네트워크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8EDFF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417320" y="2514600"/>
            <a:ext cx="1371600" cy="2651760"/>
          </a:xfrm>
          <a:prstGeom prst="line">
            <a:avLst/>
          </a:prstGeom>
          <a:noFill/>
          <a:ln w="19050">
            <a:solidFill>
              <a:srgbClr val="1A46F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788920" y="2514600"/>
            <a:ext cx="1097280" cy="2468880"/>
          </a:xfrm>
          <a:prstGeom prst="line">
            <a:avLst/>
          </a:prstGeom>
          <a:noFill/>
          <a:ln w="19050">
            <a:solidFill>
              <a:srgbClr val="1A46F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514600" y="2240280"/>
            <a:ext cx="274320" cy="274320"/>
          </a:xfrm>
          <a:prstGeom prst="ellipse">
            <a:avLst/>
          </a:prstGeom>
          <a:solidFill>
            <a:srgbClr val="1A4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이천 · 안성1·2 · 동탄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43000" y="4892040"/>
            <a:ext cx="274320" cy="274320"/>
          </a:xfrm>
          <a:prstGeom prst="ellipse">
            <a:avLst/>
          </a:prstGeom>
          <a:solidFill>
            <a:srgbClr val="0FB5A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5212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호남 · 광주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5468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식자재 센터 · 본사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4709160"/>
            <a:ext cx="274320" cy="274320"/>
          </a:xfrm>
          <a:prstGeom prst="ellipse">
            <a:avLst/>
          </a:prstGeom>
          <a:solidFill>
            <a:srgbClr val="0FB5A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5029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영남 · 울주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5285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식자재 센터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365일 간선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4920" y="164592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EEF1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0352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 3개 센터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2423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이천·안성 1·2센터, 동탄 물류단지 — 온라인 유통 콜드체인 거점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0" y="164592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EEF1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4108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호남·영남 식자재 센터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2423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광주·울주 거점으로 지역 급식·식자재 배송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74920" y="393192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EEF1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0352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직영 차량 300여 대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4709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1톤~25톤 · 기업물류·특수화물·납품운송</a:t>
            </a:r>
            <a:endParaRPr lang="en-US" sz="1150" dirty="0"/>
          </a:p>
        </p:txBody>
      </p:sp>
      <p:pic>
        <p:nvPicPr>
          <p:cNvPr id="26" name="Image 0" descr="고속도로를 달리는 화물 트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931920"/>
            <a:ext cx="3200400" cy="21031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회사소개서 · 2025년 4월 기준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운송에서 콜드체인 3PL까지, 2013 — 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11064240" cy="0"/>
          </a:xfrm>
          <a:prstGeom prst="line">
            <a:avLst/>
          </a:prstGeom>
          <a:noFill/>
          <a:ln w="25400">
            <a:solidFill>
              <a:srgbClr val="2A34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2013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79192"/>
            <a:ext cx="219456" cy="219456"/>
          </a:xfrm>
          <a:prstGeom prst="ellipse">
            <a:avLst/>
          </a:prstGeom>
          <a:solidFill>
            <a:srgbClr val="050A2B"/>
          </a:solidFill>
          <a:ln w="25400">
            <a:solidFill>
              <a:srgbClr val="8EA4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 설립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화물 운수사업·운송주선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938528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938528" y="2679192"/>
            <a:ext cx="219456" cy="219456"/>
          </a:xfrm>
          <a:prstGeom prst="ellipse">
            <a:avLst/>
          </a:prstGeom>
          <a:solidFill>
            <a:srgbClr val="050A2B"/>
          </a:solidFill>
          <a:ln w="25400">
            <a:solidFill>
              <a:srgbClr val="8EA4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38528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대기업 운송·구간 택배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롯데칠성·삼성전자·대림산업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328416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2018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28416" y="2679192"/>
            <a:ext cx="219456" cy="219456"/>
          </a:xfrm>
          <a:prstGeom prst="ellipse">
            <a:avLst/>
          </a:prstGeom>
          <a:solidFill>
            <a:srgbClr val="050A2B"/>
          </a:solidFill>
          <a:ln w="25400">
            <a:solidFill>
              <a:srgbClr val="8EA4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28416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한화케미칼·LG화학·한샘 특판 운송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718304" y="2679192"/>
            <a:ext cx="219456" cy="219456"/>
          </a:xfrm>
          <a:prstGeom prst="ellipse">
            <a:avLst/>
          </a:prstGeom>
          <a:solidFill>
            <a:srgbClr val="050A2B"/>
          </a:solidFill>
          <a:ln w="25400">
            <a:solidFill>
              <a:srgbClr val="8EA4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18304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현대리바트·아모레퍼시픽·이마트에브리데이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08192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2021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08192" y="2679192"/>
            <a:ext cx="219456" cy="219456"/>
          </a:xfrm>
          <a:prstGeom prst="ellipse">
            <a:avLst/>
          </a:prstGeom>
          <a:solidFill>
            <a:srgbClr val="050A2B"/>
          </a:solidFill>
          <a:ln w="25400">
            <a:solidFill>
              <a:srgbClr val="8EA4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08192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 전담 물류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 콜드체인 3PL, 안성 1센터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498080" y="2679192"/>
            <a:ext cx="219456" cy="219456"/>
          </a:xfrm>
          <a:prstGeom prst="ellipse">
            <a:avLst/>
          </a:prstGeom>
          <a:solidFill>
            <a:srgbClr val="050A2B"/>
          </a:solidFill>
          <a:ln w="25400">
            <a:solidFill>
              <a:srgbClr val="8EA4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0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컬리 콜드체인 3PL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887968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887968" y="2679192"/>
            <a:ext cx="219456" cy="219456"/>
          </a:xfrm>
          <a:prstGeom prst="ellipse">
            <a:avLst/>
          </a:prstGeom>
          <a:solidFill>
            <a:srgbClr val="050A2B"/>
          </a:solidFill>
          <a:ln w="25400">
            <a:solidFill>
              <a:srgbClr val="8EA4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87968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삼성웰스토리 DC·현대그린푸드 TC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B마트·푸디버스, 안성 2센터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277856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2024–26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277856" y="2679192"/>
            <a:ext cx="219456" cy="219456"/>
          </a:xfrm>
          <a:prstGeom prst="ellipse">
            <a:avLst/>
          </a:prstGeom>
          <a:solidFill>
            <a:srgbClr val="0FB5A4"/>
          </a:solidFill>
          <a:ln w="25400">
            <a:solidFill>
              <a:srgbClr val="0FB5A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77856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 3PL 운영 전담 파트너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바르닭·작심닭 B2B 온라인 유통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회사소개서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START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재경과 시작하는 5단계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물류를 먼저 이해하고, 무리 없이 옮겨 오는 것부터 시작합니다.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2788920"/>
            <a:ext cx="8869680" cy="0"/>
          </a:xfrm>
          <a:prstGeom prst="line">
            <a:avLst/>
          </a:prstGeom>
          <a:noFill/>
          <a:ln w="38100">
            <a:solidFill>
              <a:srgbClr val="1A4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3584" y="237744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4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43584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상품·물동량·채널 파악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56432" y="237744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46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16352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진단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16352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물류 흐름과 온도 조건 점검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37744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46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설계·견적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센터·운송·인력 구성 제안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82128" y="237744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46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82128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42048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운영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42048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소규모로 운영 기준 검증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94976" y="2377440"/>
            <a:ext cx="822960" cy="822960"/>
          </a:xfrm>
          <a:prstGeom prst="ellipse">
            <a:avLst/>
          </a:prstGeom>
          <a:solidFill>
            <a:srgbClr val="0FB5A4"/>
          </a:solidFill>
          <a:ln w="38100">
            <a:solidFill>
              <a:srgbClr val="0FB5A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94976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454896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운영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454896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리포트로 지속 개선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7104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48920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운영 중인 물류, 비용과 품질을 함께 점검해 드립니다.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321040" y="5120640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1A46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2104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상담 pf.kakao.com/_xgrFxhn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회사소개서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&amp; ESG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곧 서비스 품질입니다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01952"/>
            <a:ext cx="457200" cy="457200"/>
          </a:xfrm>
          <a:prstGeom prst="ellipse">
            <a:avLst/>
          </a:prstGeom>
          <a:solidFill>
            <a:srgbClr val="DFF7F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105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안전보건경영방침 운영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48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1월 제정, 전 사업장 공통 적용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99232"/>
            <a:ext cx="457200" cy="457200"/>
          </a:xfrm>
          <a:prstGeom prst="ellipse">
            <a:avLst/>
          </a:prstGeom>
          <a:solidFill>
            <a:srgbClr val="DFF7F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9077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원청 수준의 안전보건관리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246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 동탄냉장 협력사 안전보건관리계획 이행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96512"/>
            <a:ext cx="457200" cy="457200"/>
          </a:xfrm>
          <a:prstGeom prst="ellipse">
            <a:avLst/>
          </a:prstGeom>
          <a:solidFill>
            <a:srgbClr val="DFF7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050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위험성평가 상시 운영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343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지게차·상하차·냉동창고 작업 위험요인 개선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193792"/>
            <a:ext cx="457200" cy="457200"/>
          </a:xfrm>
          <a:prstGeom prst="ellipse">
            <a:avLst/>
          </a:prstGeom>
          <a:solidFill>
            <a:srgbClr val="DFF7F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1023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 품질 관리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440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온도 검수 · 24시간 모니터링 · 보냉 출고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1645920"/>
            <a:ext cx="4325112" cy="4251960"/>
          </a:xfrm>
          <a:prstGeom prst="roundRect">
            <a:avLst>
              <a:gd name="adj" fmla="val 2581"/>
            </a:avLst>
          </a:prstGeom>
          <a:solidFill>
            <a:srgbClr val="071044"/>
          </a:solidFill>
          <a:ln/>
        </p:spPr>
      </p:sp>
      <p:pic>
        <p:nvPicPr>
          <p:cNvPr id="25" name="Image 0" descr="정렬된 지게차와 안전 통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4325112" cy="210312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635240" y="3977640"/>
            <a:ext cx="2194560" cy="310896"/>
          </a:xfrm>
          <a:prstGeom prst="roundRect">
            <a:avLst>
              <a:gd name="adj" fmla="val 35294"/>
            </a:avLst>
          </a:prstGeom>
          <a:solidFill>
            <a:srgbClr val="114A5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635240" y="3977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E0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SOCIAL CONTRIBUTION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7635240" y="4434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지역과 함께 성장하는 기업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635240" y="48920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광주광역시장애인체육회 후원기업으로 지역 장애인 체육 발전을 지원하고 있습니다.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회사소개서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2B">
              <a:alpha val="7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신선물류 고민,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8EA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재경이 함께 풀겠습니다.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3749040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121A45">
              <a:alpha val="85000"/>
            </a:srgbClr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대표전화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070-8098-4559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31920" y="3749040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121A45">
              <a:alpha val="85000"/>
            </a:srgbClr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0624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062-952-9794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15200" y="3749040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121A45">
              <a:alpha val="85000"/>
            </a:srgbClr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contact@jeakyung.com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rgbClr val="5FE0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jeakyung.com/company-profile</a:t>
            </a:r>
            <a:pPr indent="0" marL="0">
              <a:buNone/>
            </a:pPr>
            <a:r>
              <a:rPr lang="en-US" sz="13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카카오톡 상담 pf.kakao.com/_xgrFxhn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회사소개서 · 사진: Unsplash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재경로지스｜물류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재경로지스｜물류 회사소개서</dc:title>
  <dc:subject>PptxGenJS Presentation</dc:subject>
  <dc:creator>재경로지스｜물류</dc:creator>
  <cp:lastModifiedBy>재경로지스｜물류</cp:lastModifiedBy>
  <cp:revision>1</cp:revision>
  <dcterms:created xsi:type="dcterms:W3CDTF">2026-09-28T08:36:09Z</dcterms:created>
  <dcterms:modified xsi:type="dcterms:W3CDTF">2026-09-28T08:36:09Z</dcterms:modified>
</cp:coreProperties>
</file>